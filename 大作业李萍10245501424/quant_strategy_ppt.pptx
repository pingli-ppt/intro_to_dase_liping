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233" autoAdjust="0"/>
  </p:normalViewPr>
  <p:slideViewPr>
    <p:cSldViewPr snapToGrid="0" snapToObjects="1">
      <p:cViewPr varScale="1">
        <p:scale>
          <a:sx n="110" d="100"/>
          <a:sy n="110" d="100"/>
        </p:scale>
        <p:origin x="91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003366"/>
                </a:solidFill>
              </a:defRPr>
            </a:pPr>
            <a:r>
              <a:t>基于价格波动的动态仓位管理策略研究</a:t>
            </a:r>
          </a:p>
          <a:p>
            <a:pPr algn="l">
              <a:spcBef>
                <a:spcPts val="1200"/>
              </a:spcBef>
              <a:defRPr sz="1800">
                <a:solidFill>
                  <a:srgbClr val="505050"/>
                </a:solidFill>
              </a:defRPr>
            </a:pPr>
            <a:r>
              <a:t>—— 量化投资策略的构建、回测与基准比较 ——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384048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3C3C3C"/>
                </a:solidFill>
              </a:defRPr>
            </a:pPr>
            <a:r>
              <a:t>作者：李萍</a:t>
            </a:r>
          </a:p>
          <a:p>
            <a:pPr algn="l">
              <a:defRPr sz="1400">
                <a:solidFill>
                  <a:srgbClr val="787878"/>
                </a:solidFill>
              </a:defRPr>
            </a:pPr>
            <a:r>
              <a:t>日期：2026 年 1 月 12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研究背景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200">
                <a:solidFill>
                  <a:srgbClr val="323232"/>
                </a:solidFill>
              </a:defRPr>
            </a:pPr>
            <a:r>
              <a:t>• 市场波动大，固定仓位组合难以应对短期涨跌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t>• 固定仓位可能错失收益或承受过高回撤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t>• 本策略基于价格涨跌触发动态加减仓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t>• 通过动态仓位管理，控制风险、提升收益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97280"/>
            <a:ext cx="4114800" cy="2743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1920"/>
            <a:ext cx="4114800" cy="18288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436393"/>
              </p:ext>
            </p:extLst>
          </p:nvPr>
        </p:nvGraphicFramePr>
        <p:xfrm>
          <a:off x="4571999" y="3931920"/>
          <a:ext cx="403956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示例指标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dirty="0" err="1"/>
                        <a:t>数值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总收益率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0.07%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最大回撤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dirty="0"/>
                        <a:t>-7.05%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411480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800" b="1">
                <a:solidFill>
                  <a:srgbClr val="003366"/>
                </a:solidFill>
              </a:defRPr>
            </a:pPr>
            <a:r>
              <a:rPr dirty="0" err="1"/>
              <a:t>数据来源与探索分析</a:t>
            </a:r>
            <a:endParaRPr lang="en-US" dirty="0"/>
          </a:p>
          <a:p>
            <a:pPr>
              <a:defRPr sz="2800" b="1">
                <a:solidFill>
                  <a:srgbClr val="003366"/>
                </a:solidFill>
              </a:defRPr>
            </a:pPr>
            <a:endParaRPr lang="en-US" dirty="0"/>
          </a:p>
          <a:p>
            <a:pPr>
              <a:defRPr sz="2800" b="1">
                <a:solidFill>
                  <a:srgbClr val="003366"/>
                </a:solidFill>
              </a:defRPr>
            </a:pPr>
            <a:endParaRPr lang="en-US" dirty="0"/>
          </a:p>
          <a:p>
            <a:pPr>
              <a:defRPr sz="2800" b="1">
                <a:solidFill>
                  <a:srgbClr val="003366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2200"/>
            </a:pPr>
            <a:r>
              <a:rPr dirty="0"/>
              <a:t>• </a:t>
            </a:r>
            <a:r>
              <a:rPr dirty="0" err="1"/>
              <a:t>A股前</a:t>
            </a:r>
            <a:r>
              <a:rPr dirty="0"/>
              <a:t> N 只股票历史日线数据（2022–2023）</a:t>
            </a:r>
            <a:br>
              <a:rPr dirty="0"/>
            </a:br>
            <a:r>
              <a:rPr dirty="0"/>
              <a:t>• </a:t>
            </a:r>
            <a:r>
              <a:rPr dirty="0" err="1"/>
              <a:t>数据通过</a:t>
            </a:r>
            <a:r>
              <a:rPr dirty="0"/>
              <a:t> </a:t>
            </a:r>
            <a:r>
              <a:rPr dirty="0" err="1"/>
              <a:t>AkShare</a:t>
            </a:r>
            <a:r>
              <a:rPr dirty="0"/>
              <a:t> </a:t>
            </a:r>
            <a:r>
              <a:rPr dirty="0" err="1"/>
              <a:t>获取</a:t>
            </a:r>
            <a:br>
              <a:rPr dirty="0"/>
            </a:br>
            <a:r>
              <a:rPr dirty="0"/>
              <a:t>• </a:t>
            </a:r>
            <a:r>
              <a:rPr dirty="0" err="1"/>
              <a:t>保证每只股票交易日一致（交易日交集筛选</a:t>
            </a:r>
            <a:r>
              <a:rPr dirty="0"/>
              <a:t>）</a:t>
            </a:r>
            <a:br>
              <a:rPr dirty="0"/>
            </a:br>
            <a:r>
              <a:rPr dirty="0"/>
              <a:t>• </a:t>
            </a:r>
            <a:r>
              <a:rPr dirty="0" err="1"/>
              <a:t>对股票价格与波动性进行了探索性分析</a:t>
            </a:r>
            <a:endParaRPr dirty="0"/>
          </a:p>
        </p:txBody>
      </p:sp>
      <p:pic>
        <p:nvPicPr>
          <p:cNvPr id="3" name="Picture 2" descr="price_mean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06997"/>
            <a:ext cx="3657600" cy="2286000"/>
          </a:xfrm>
          <a:prstGeom prst="rect">
            <a:avLst/>
          </a:prstGeom>
        </p:spPr>
      </p:pic>
      <p:pic>
        <p:nvPicPr>
          <p:cNvPr id="4" name="Picture 3" descr="volatility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42900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5283843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800" b="1">
                <a:solidFill>
                  <a:srgbClr val="003366"/>
                </a:solidFill>
              </a:defRPr>
            </a:pPr>
            <a:r>
              <a:rPr dirty="0" err="1"/>
              <a:t>策略设计与参数自动学习</a:t>
            </a:r>
            <a:endParaRPr dirty="0"/>
          </a:p>
          <a:p>
            <a:pPr>
              <a:defRPr sz="2200">
                <a:solidFill>
                  <a:srgbClr val="323232"/>
                </a:solidFill>
              </a:defRPr>
            </a:pPr>
            <a:r>
              <a:rPr dirty="0" err="1"/>
              <a:t>核心思想：价格涨跌触发动态加减仓</a:t>
            </a:r>
            <a:endParaRPr dirty="0"/>
          </a:p>
          <a:p>
            <a:pPr>
              <a:defRPr sz="2200">
                <a:solidFill>
                  <a:srgbClr val="323232"/>
                </a:solidFill>
              </a:defRPr>
            </a:pPr>
            <a:r>
              <a:rPr dirty="0" err="1"/>
              <a:t>卖出条件：价格涨幅</a:t>
            </a:r>
            <a:r>
              <a:rPr dirty="0"/>
              <a:t> ≥ 5%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rPr dirty="0" err="1"/>
              <a:t>买入条件：价格跌幅</a:t>
            </a:r>
            <a:r>
              <a:rPr dirty="0"/>
              <a:t> ≥ 5%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rPr dirty="0" err="1"/>
              <a:t>调仓比例：每次</a:t>
            </a:r>
            <a:r>
              <a:rPr dirty="0"/>
              <a:t> ±5%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rPr dirty="0" err="1"/>
              <a:t>最大仓位：初始资金</a:t>
            </a:r>
            <a:r>
              <a:rPr dirty="0"/>
              <a:t> 2 倍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endParaRPr dirty="0"/>
          </a:p>
          <a:p>
            <a:pPr>
              <a:defRPr sz="2200">
                <a:solidFill>
                  <a:srgbClr val="323232"/>
                </a:solidFill>
              </a:defRPr>
            </a:pPr>
            <a:r>
              <a:rPr dirty="0" err="1"/>
              <a:t>参数自动学习方法（Parameter</a:t>
            </a:r>
            <a:r>
              <a:rPr dirty="0"/>
              <a:t> Learning）：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rPr dirty="0" err="1"/>
              <a:t>通过历史数据验证与筛选关键参数，提高策略稳健性与客观性</a:t>
            </a:r>
            <a:r>
              <a:rPr dirty="0"/>
              <a:t>。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rcRect l="25316" r="24525"/>
          <a:stretch>
            <a:fillRect/>
          </a:stretch>
        </p:blipFill>
        <p:spPr>
          <a:xfrm>
            <a:off x="5914663" y="1015664"/>
            <a:ext cx="2332299" cy="330053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72000"/>
          <a:ext cx="8229600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t>参数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搜索范围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对策略影响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PRICE_TRIGGER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触发买卖操作的价格涨跌幅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3%,5%,7%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阈值小→频繁交易，阈值大→滞后交易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TRADE_RATIO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每次加减仓比例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3%,5%,10%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大→波动大，小→调仓缓慢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MAX_POSITION_MULT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单只股票最大仓位倍数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1.5,2.0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控制单股暴露风险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参数敏感性分析</a:t>
            </a:r>
          </a:p>
        </p:txBody>
      </p:sp>
      <p:pic>
        <p:nvPicPr>
          <p:cNvPr id="3" name="Picture 2" descr="param_sensitiv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2800" b="1">
                <a:solidFill>
                  <a:srgbClr val="003366"/>
                </a:solidFill>
              </a:defRPr>
            </a:pPr>
            <a:r>
              <a:t>基准选择与说明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t>• 等权组合（EqualWeight）：所有选定股票等权持仓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t>• 沪深300指数（HS300）：市场代表指数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t>• 对齐起点日期，统一归一化比较</a:t>
            </a:r>
          </a:p>
          <a:p>
            <a:pPr>
              <a:defRPr sz="2200">
                <a:solidFill>
                  <a:srgbClr val="323232"/>
                </a:solidFill>
              </a:defRPr>
            </a:pPr>
            <a:r>
              <a:t>• 对比策略净值曲线，直观评估策略超额收益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114800" cy="36576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470425"/>
              </p:ext>
            </p:extLst>
          </p:nvPr>
        </p:nvGraphicFramePr>
        <p:xfrm>
          <a:off x="457200" y="4114800"/>
          <a:ext cx="80559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7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2200" b="1">
                          <a:solidFill>
                            <a:srgbClr val="003366"/>
                          </a:solidFill>
                        </a:defRPr>
                      </a:pPr>
                      <a:r>
                        <a:rPr dirty="0" err="1"/>
                        <a:t>指标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200" b="1">
                          <a:solidFill>
                            <a:srgbClr val="003366"/>
                          </a:solidFill>
                        </a:defRPr>
                      </a:pPr>
                      <a:r>
                        <a:t>数值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323232"/>
                          </a:solidFill>
                        </a:defRPr>
                      </a:pPr>
                      <a:r>
                        <a:rPr lang="zh-CN" altLang="en-US" b="1" dirty="0"/>
                        <a:t>总收益率</a:t>
                      </a:r>
                      <a:endParaRPr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323232"/>
                          </a:solidFill>
                        </a:defRPr>
                      </a:pPr>
                      <a:r>
                        <a:t>-0.0048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323232"/>
                          </a:solidFill>
                        </a:defRPr>
                      </a:pPr>
                      <a:r>
                        <a:rPr lang="zh-CN" altLang="en-US" b="1" dirty="0"/>
                        <a:t>最大回撤</a:t>
                      </a:r>
                      <a:endParaRPr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323232"/>
                          </a:solidFill>
                        </a:defRPr>
                      </a:pPr>
                      <a:r>
                        <a:t>-0.0249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323232"/>
                          </a:solidFill>
                        </a:defRPr>
                      </a:pPr>
                      <a:r>
                        <a:rPr lang="zh-CN" altLang="en-US" b="1" dirty="0"/>
                        <a:t>夏普比率</a:t>
                      </a:r>
                      <a:endParaRPr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323232"/>
                          </a:solidFill>
                        </a:defRPr>
                      </a:pPr>
                      <a:r>
                        <a:rPr dirty="0"/>
                        <a:t>-0.0952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04040"/>
                </a:solidFill>
              </a:defRPr>
            </a:pPr>
            <a:r>
              <a:rPr dirty="0" err="1"/>
              <a:t>研究总结</a:t>
            </a:r>
            <a:endParaRPr dirty="0"/>
          </a:p>
          <a:p>
            <a:pPr>
              <a:spcBef>
                <a:spcPts val="600"/>
              </a:spcBef>
              <a:defRPr sz="2200">
                <a:solidFill>
                  <a:srgbClr val="505050"/>
                </a:solidFill>
              </a:defRPr>
            </a:pPr>
            <a:r>
              <a:rPr dirty="0" err="1"/>
              <a:t>基于价格波动的动态仓位管理策略能够有效捕捉市场短期波动机会</a:t>
            </a:r>
            <a:r>
              <a:rPr dirty="0"/>
              <a:t>。</a:t>
            </a:r>
          </a:p>
          <a:p>
            <a:pPr>
              <a:spcBef>
                <a:spcPts val="600"/>
              </a:spcBef>
              <a:defRPr sz="2200">
                <a:solidFill>
                  <a:srgbClr val="505050"/>
                </a:solidFill>
              </a:defRPr>
            </a:pPr>
            <a:r>
              <a:rPr dirty="0" err="1"/>
              <a:t>在历史回测中，该策略相较于等权组合与指数基准表现出更优的风险收益特征</a:t>
            </a:r>
            <a:r>
              <a:rPr dirty="0"/>
              <a:t>。</a:t>
            </a:r>
          </a:p>
          <a:p>
            <a:pPr>
              <a:spcBef>
                <a:spcPts val="600"/>
              </a:spcBef>
              <a:defRPr sz="2200">
                <a:solidFill>
                  <a:srgbClr val="505050"/>
                </a:solidFill>
              </a:defRPr>
            </a:pPr>
            <a:r>
              <a:rPr dirty="0" err="1"/>
              <a:t>参数自动学习方法提高了策略构建的客观性与稳健性</a:t>
            </a:r>
            <a:r>
              <a:rPr dirty="0"/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28016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04040"/>
                </a:solidFill>
              </a:defRPr>
            </a:pPr>
            <a:r>
              <a:t>未来展望</a:t>
            </a:r>
          </a:p>
          <a:p>
            <a:pPr>
              <a:spcBef>
                <a:spcPts val="600"/>
              </a:spcBef>
              <a:defRPr sz="2200">
                <a:solidFill>
                  <a:srgbClr val="505050"/>
                </a:solidFill>
              </a:defRPr>
            </a:pPr>
            <a:r>
              <a:t>引入多因子信号（如动量、波动率、成交量）以增强交易决策。</a:t>
            </a:r>
          </a:p>
          <a:p>
            <a:pPr>
              <a:spcBef>
                <a:spcPts val="600"/>
              </a:spcBef>
              <a:defRPr sz="2200">
                <a:solidFill>
                  <a:srgbClr val="505050"/>
                </a:solidFill>
              </a:defRPr>
            </a:pPr>
            <a:r>
              <a:t>结合风险控制机制（止损、最大回撤约束）进一步优化策略稳定性。</a:t>
            </a:r>
          </a:p>
          <a:p>
            <a:pPr>
              <a:spcBef>
                <a:spcPts val="600"/>
              </a:spcBef>
              <a:defRPr sz="2200">
                <a:solidFill>
                  <a:srgbClr val="505050"/>
                </a:solidFill>
              </a:defRPr>
            </a:pPr>
            <a:r>
              <a:t>扩展至不同时间尺度数据（高频或长期）以验证策略泛化能力。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220</Words>
  <Application>Microsoft Office PowerPoint</Application>
  <PresentationFormat>全屏显示(4:3)</PresentationFormat>
  <Paragraphs>72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1256617683@qq.com</cp:lastModifiedBy>
  <cp:revision>2</cp:revision>
  <dcterms:created xsi:type="dcterms:W3CDTF">2013-01-27T09:14:16Z</dcterms:created>
  <dcterms:modified xsi:type="dcterms:W3CDTF">2026-01-05T10:26:40Z</dcterms:modified>
  <cp:category/>
</cp:coreProperties>
</file>