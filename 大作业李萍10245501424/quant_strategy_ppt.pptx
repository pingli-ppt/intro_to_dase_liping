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3" r:id="rId5"/>
    <p:sldId id="258" r:id="rId6"/>
    <p:sldId id="264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3" autoAdjust="0"/>
  </p:normalViewPr>
  <p:slideViewPr>
    <p:cSldViewPr snapToGrid="0" snapToObjects="1">
      <p:cViewPr varScale="1">
        <p:scale>
          <a:sx n="64" d="100"/>
          <a:sy n="64" d="100"/>
        </p:scale>
        <p:origin x="64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t>基于价格波动的动态仓位管理策略研究</a:t>
            </a:r>
          </a:p>
          <a:p>
            <a:pPr algn="l">
              <a:spcBef>
                <a:spcPts val="1200"/>
              </a:spcBef>
              <a:defRPr sz="1800">
                <a:solidFill>
                  <a:srgbClr val="505050"/>
                </a:solidFill>
              </a:defRPr>
            </a:pPr>
            <a:r>
              <a:t>—— 量化投资策略的构建、回测与基准比较 ——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C3C3C"/>
                </a:solidFill>
              </a:defRPr>
            </a:pPr>
            <a:r>
              <a:t>作者：李萍</a:t>
            </a:r>
          </a:p>
          <a:p>
            <a:pPr algn="l">
              <a:defRPr sz="1400">
                <a:solidFill>
                  <a:srgbClr val="787878"/>
                </a:solidFill>
              </a:defRPr>
            </a:pPr>
            <a:r>
              <a:t>日期：2026 年 1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 err="1"/>
              <a:t>研究背景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市场波动大，固定仓位组合难以应对短期涨跌</a:t>
            </a: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固定仓位可能错失收益或承受过高回撤</a:t>
            </a: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本策略基于价格涨跌触发动态加减仓</a:t>
            </a: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通过动态仓位管理，控制风险、提升收益</a:t>
            </a:r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114800" cy="2743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1828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728530"/>
              </p:ext>
            </p:extLst>
          </p:nvPr>
        </p:nvGraphicFramePr>
        <p:xfrm>
          <a:off x="4609617" y="4114800"/>
          <a:ext cx="403956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示例指标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数值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总收益率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最大回撤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-7.05%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1EDA-535A-0D46-C888-98547EC5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41F52-EB50-2FE2-AEAC-800E4F5CB198}"/>
              </a:ext>
            </a:extLst>
          </p:cNvPr>
          <p:cNvSpPr txBox="1"/>
          <p:nvPr/>
        </p:nvSpPr>
        <p:spPr>
          <a:xfrm>
            <a:off x="457200" y="457200"/>
            <a:ext cx="18325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zh-CN" altLang="en-US" dirty="0"/>
              <a:t>爬虫数据</a:t>
            </a:r>
            <a:endParaRPr dirty="0"/>
          </a:p>
        </p:txBody>
      </p:sp>
      <p:pic>
        <p:nvPicPr>
          <p:cNvPr id="9" name="图片 8" descr="表格, Excel&#10;&#10;AI 生成的内容可能不正确。">
            <a:extLst>
              <a:ext uri="{FF2B5EF4-FFF2-40B4-BE49-F238E27FC236}">
                <a16:creationId xmlns:a16="http://schemas.microsoft.com/office/drawing/2014/main" id="{92D8ADEB-2202-07F6-CCB3-7AFC7D0A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4" y="1123180"/>
            <a:ext cx="8478175" cy="500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9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539C-DA36-C7D1-4E57-F8C7E4BE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F02717-65B9-11D8-16E5-FFBD9C9E8BD4}"/>
              </a:ext>
            </a:extLst>
          </p:cNvPr>
          <p:cNvSpPr txBox="1"/>
          <p:nvPr/>
        </p:nvSpPr>
        <p:spPr>
          <a:xfrm>
            <a:off x="457200" y="457200"/>
            <a:ext cx="30684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zh-CN" altLang="en-US" sz="3200" b="1" dirty="0">
                <a:solidFill>
                  <a:srgbClr val="003366"/>
                </a:solidFill>
              </a:rPr>
              <a:t>目标界定与探索</a:t>
            </a:r>
            <a:endParaRPr sz="3200" b="1" dirty="0">
              <a:solidFill>
                <a:srgbClr val="00336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6D2D6-88BD-52A4-12C3-8719152A00C2}"/>
              </a:ext>
            </a:extLst>
          </p:cNvPr>
          <p:cNvSpPr txBox="1"/>
          <p:nvPr/>
        </p:nvSpPr>
        <p:spPr>
          <a:xfrm>
            <a:off x="457200" y="1984242"/>
            <a:ext cx="3657600" cy="175432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</a:rPr>
              <a:t>东方财富网提供 </a:t>
            </a:r>
            <a:r>
              <a:rPr lang="en-US" altLang="zh-CN" b="1" dirty="0">
                <a:latin typeface="+mn-ea"/>
              </a:rPr>
              <a:t>A </a:t>
            </a:r>
            <a:r>
              <a:rPr lang="zh-CN" altLang="en-US" b="1" dirty="0">
                <a:latin typeface="+mn-ea"/>
              </a:rPr>
              <a:t>股股票、</a:t>
            </a:r>
            <a:r>
              <a:rPr lang="en-US" altLang="zh-CN" b="1" dirty="0">
                <a:latin typeface="+mn-ea"/>
              </a:rPr>
              <a:t>ETF </a:t>
            </a:r>
            <a:r>
              <a:rPr lang="zh-CN" altLang="en-US" b="1" dirty="0">
                <a:latin typeface="+mn-ea"/>
              </a:rPr>
              <a:t>基金完整的行情数据，是金融数据分析优质数据源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金融数据分析需要历史 </a:t>
            </a:r>
            <a:r>
              <a:rPr lang="en-US" altLang="zh-CN" b="1" dirty="0">
                <a:latin typeface="+mn-ea"/>
              </a:rPr>
              <a:t>K </a:t>
            </a:r>
            <a:r>
              <a:rPr lang="zh-CN" altLang="en-US" b="1" dirty="0">
                <a:latin typeface="+mn-ea"/>
              </a:rPr>
              <a:t>线数据 </a:t>
            </a:r>
            <a:r>
              <a:rPr lang="en-US" altLang="zh-CN" b="1" dirty="0">
                <a:latin typeface="+mn-ea"/>
              </a:rPr>
              <a:t>+ </a:t>
            </a:r>
            <a:r>
              <a:rPr lang="zh-CN" altLang="en-US" b="1" dirty="0">
                <a:latin typeface="+mn-ea"/>
              </a:rPr>
              <a:t>实时行情数据 结合，支撑后续价格分析需求</a:t>
            </a:r>
            <a:endParaRPr sz="2200" b="1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CA78D4-AFE4-5347-A8E4-FD7FC54124C7}"/>
              </a:ext>
            </a:extLst>
          </p:cNvPr>
          <p:cNvSpPr txBox="1"/>
          <p:nvPr/>
        </p:nvSpPr>
        <p:spPr>
          <a:xfrm>
            <a:off x="457200" y="3744158"/>
            <a:ext cx="3657600" cy="25853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拼接规范证券编码：市场代码</a:t>
            </a:r>
            <a:r>
              <a:rPr lang="en-US" altLang="zh-CN" dirty="0"/>
              <a:t>.</a:t>
            </a:r>
            <a:r>
              <a:rPr lang="zh-CN" altLang="en-US" dirty="0"/>
              <a:t>股票代码（如 </a:t>
            </a:r>
            <a:r>
              <a:rPr lang="en-US" altLang="zh-CN" dirty="0"/>
              <a:t>1.000001 </a:t>
            </a:r>
            <a:r>
              <a:rPr lang="zh-CN" altLang="en-US" dirty="0"/>
              <a:t>平安银行、</a:t>
            </a:r>
            <a:r>
              <a:rPr lang="en-US" altLang="zh-CN" dirty="0"/>
              <a:t>0.600000 </a:t>
            </a:r>
            <a:r>
              <a:rPr lang="zh-CN" altLang="en-US" dirty="0"/>
              <a:t>浦发银行）</a:t>
            </a:r>
            <a:endParaRPr lang="en-US" altLang="zh-CN" dirty="0"/>
          </a:p>
          <a:p>
            <a:r>
              <a:rPr lang="zh-CN" altLang="en-US" dirty="0"/>
              <a:t>接口状态校验：判断 </a:t>
            </a:r>
            <a:r>
              <a:rPr lang="en-US" altLang="zh-CN" dirty="0" err="1"/>
              <a:t>rc</a:t>
            </a:r>
            <a:r>
              <a:rPr lang="en-US" altLang="zh-CN" dirty="0"/>
              <a:t>=0 </a:t>
            </a:r>
            <a:r>
              <a:rPr lang="zh-CN" altLang="en-US" dirty="0"/>
              <a:t>才为正常返回，异常则终止分页数据去重：</a:t>
            </a:r>
            <a:r>
              <a:rPr lang="en-US" altLang="zh-CN" dirty="0" err="1"/>
              <a:t>dict.fromkeys</a:t>
            </a:r>
            <a:r>
              <a:rPr lang="en-US" altLang="zh-CN" dirty="0"/>
              <a:t>() </a:t>
            </a:r>
            <a:r>
              <a:rPr lang="zh-CN" altLang="en-US" dirty="0"/>
              <a:t>保持顺序去重，避免重复股票</a:t>
            </a:r>
            <a:endParaRPr lang="en-US" altLang="zh-CN" dirty="0"/>
          </a:p>
          <a:p>
            <a:r>
              <a:rPr lang="zh-CN" altLang="en-US" dirty="0"/>
              <a:t>兜底机制：未获取数据时返回示例股票数据，保证程序不中断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7638DB-53F8-26FA-910C-080F37CB0EEC}"/>
              </a:ext>
            </a:extLst>
          </p:cNvPr>
          <p:cNvSpPr txBox="1"/>
          <p:nvPr/>
        </p:nvSpPr>
        <p:spPr>
          <a:xfrm>
            <a:off x="4114800" y="1156040"/>
            <a:ext cx="4487662" cy="25853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完整请求头伪装：添加 </a:t>
            </a:r>
            <a:r>
              <a:rPr lang="en-US" altLang="zh-CN" dirty="0"/>
              <a:t>User-Agent</a:t>
            </a:r>
            <a:r>
              <a:rPr lang="zh-CN" altLang="en-US" dirty="0"/>
              <a:t>、</a:t>
            </a:r>
            <a:r>
              <a:rPr lang="en-US" altLang="zh-CN" dirty="0" err="1"/>
              <a:t>Referer</a:t>
            </a:r>
            <a:r>
              <a:rPr lang="zh-CN" altLang="en-US" dirty="0"/>
              <a:t>、</a:t>
            </a:r>
            <a:r>
              <a:rPr lang="en-US" altLang="zh-CN" dirty="0"/>
              <a:t>Cookie</a:t>
            </a:r>
            <a:r>
              <a:rPr lang="zh-CN" altLang="en-US" dirty="0"/>
              <a:t>、</a:t>
            </a:r>
            <a:r>
              <a:rPr lang="en-US" altLang="zh-CN" dirty="0"/>
              <a:t>Accept </a:t>
            </a:r>
            <a:r>
              <a:rPr lang="zh-CN" altLang="en-US" dirty="0"/>
              <a:t>等浏览器字段，模拟真实浏览器请求，避免被识别为爬虫</a:t>
            </a:r>
            <a:endParaRPr lang="en-US" altLang="zh-CN" dirty="0"/>
          </a:p>
          <a:p>
            <a:r>
              <a:rPr lang="zh-CN" altLang="en-US" dirty="0"/>
              <a:t> 随机延时机制：无固定间隔，规避频率检测</a:t>
            </a:r>
            <a:endParaRPr lang="en-US" altLang="zh-CN" dirty="0"/>
          </a:p>
          <a:p>
            <a:r>
              <a:rPr lang="zh-CN" altLang="en-US" dirty="0"/>
              <a:t> 分批休眠策略：每批处理完成后，休眠 </a:t>
            </a:r>
            <a:r>
              <a:rPr lang="en-US" altLang="zh-CN" dirty="0"/>
              <a:t>120-180</a:t>
            </a:r>
            <a:r>
              <a:rPr lang="zh-CN" altLang="en-US" dirty="0"/>
              <a:t>秒，降低短时间请求量</a:t>
            </a:r>
            <a:endParaRPr lang="en-US" altLang="zh-CN" dirty="0"/>
          </a:p>
          <a:p>
            <a:r>
              <a:rPr lang="zh-CN" altLang="en-US" dirty="0"/>
              <a:t> 接口参数精简：仅请求必要字段，减少接口负载，降低被风控概率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D89644-55DB-3488-9B17-A18D55432C9F}"/>
              </a:ext>
            </a:extLst>
          </p:cNvPr>
          <p:cNvSpPr txBox="1"/>
          <p:nvPr/>
        </p:nvSpPr>
        <p:spPr>
          <a:xfrm>
            <a:off x="4114800" y="3744158"/>
            <a:ext cx="4487662" cy="120032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ETF </a:t>
            </a:r>
            <a:r>
              <a:rPr lang="zh-CN" altLang="en-US" dirty="0"/>
              <a:t>价格校准操作内容：识别 </a:t>
            </a:r>
            <a:r>
              <a:rPr lang="en-US" altLang="zh-CN" dirty="0"/>
              <a:t>ETF </a:t>
            </a:r>
            <a:r>
              <a:rPr lang="zh-CN" altLang="en-US" dirty="0"/>
              <a:t>类型，将原始偏低的价格乘以 </a:t>
            </a:r>
            <a:r>
              <a:rPr lang="en-US" altLang="zh-CN" dirty="0"/>
              <a:t>10 </a:t>
            </a:r>
            <a:r>
              <a:rPr lang="zh-CN" altLang="en-US" dirty="0"/>
              <a:t>修正</a:t>
            </a:r>
            <a:endParaRPr lang="en-US" altLang="zh-CN" dirty="0"/>
          </a:p>
          <a:p>
            <a:r>
              <a:rPr lang="zh-CN" altLang="en-US" dirty="0"/>
              <a:t>异常价格兜底处理操作内容：若最新价为 </a:t>
            </a:r>
            <a:r>
              <a:rPr lang="en-US" altLang="zh-CN" dirty="0"/>
              <a:t>0</a:t>
            </a:r>
            <a:r>
              <a:rPr lang="zh-CN" altLang="en-US" dirty="0"/>
              <a:t>（接口返回异常），用昨收价替代</a:t>
            </a:r>
          </a:p>
        </p:txBody>
      </p:sp>
    </p:spTree>
    <p:extLst>
      <p:ext uri="{BB962C8B-B14F-4D97-AF65-F5344CB8AC3E}">
        <p14:creationId xmlns:p14="http://schemas.microsoft.com/office/powerpoint/2010/main" val="204374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114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3366"/>
                </a:solidFill>
              </a:defRPr>
            </a:pPr>
            <a:r>
              <a:rPr dirty="0" err="1"/>
              <a:t>数据来源与探索分析</a:t>
            </a:r>
            <a:endParaRPr lang="en-US" dirty="0"/>
          </a:p>
          <a:p>
            <a:pPr>
              <a:defRPr sz="2800" b="1">
                <a:solidFill>
                  <a:srgbClr val="003366"/>
                </a:solidFill>
              </a:defRPr>
            </a:pPr>
            <a:endParaRPr lang="en-US" dirty="0"/>
          </a:p>
          <a:p>
            <a:pPr>
              <a:defRPr sz="2800" b="1">
                <a:solidFill>
                  <a:srgbClr val="003366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200"/>
            </a:pPr>
            <a:r>
              <a:rPr dirty="0"/>
              <a:t>• </a:t>
            </a:r>
            <a:r>
              <a:rPr dirty="0" err="1"/>
              <a:t>A股前</a:t>
            </a:r>
            <a:r>
              <a:t> </a:t>
            </a:r>
            <a:r>
              <a:rPr lang="en-US"/>
              <a:t>500</a:t>
            </a:r>
            <a:r>
              <a:t>只股票历史日线数据</a:t>
            </a:r>
            <a:r>
              <a:rPr dirty="0"/>
              <a:t>（2022–2023）</a:t>
            </a:r>
            <a:br>
              <a:rPr dirty="0"/>
            </a:br>
            <a:r>
              <a:rPr dirty="0"/>
              <a:t>• </a:t>
            </a:r>
            <a:r>
              <a:rPr dirty="0" err="1"/>
              <a:t>数据通过</a:t>
            </a:r>
            <a:r>
              <a:rPr dirty="0"/>
              <a:t> </a:t>
            </a:r>
            <a:r>
              <a:rPr dirty="0" err="1"/>
              <a:t>AkShare</a:t>
            </a:r>
            <a:r>
              <a:rPr dirty="0"/>
              <a:t> </a:t>
            </a:r>
            <a:r>
              <a:rPr dirty="0" err="1"/>
              <a:t>获取</a:t>
            </a:r>
            <a:br>
              <a:rPr dirty="0"/>
            </a:br>
            <a:r>
              <a:rPr dirty="0"/>
              <a:t>• </a:t>
            </a:r>
            <a:r>
              <a:rPr dirty="0" err="1"/>
              <a:t>保证每只股票交易日一致（交易日交集筛选</a:t>
            </a:r>
            <a:r>
              <a:rPr dirty="0"/>
              <a:t>）</a:t>
            </a:r>
            <a:br>
              <a:rPr dirty="0"/>
            </a:br>
            <a:r>
              <a:rPr dirty="0"/>
              <a:t>• </a:t>
            </a:r>
            <a:r>
              <a:rPr dirty="0" err="1"/>
              <a:t>对股票价格与波动性进行了探索性分析</a:t>
            </a:r>
            <a:endParaRPr dirty="0"/>
          </a:p>
        </p:txBody>
      </p:sp>
      <p:pic>
        <p:nvPicPr>
          <p:cNvPr id="3" name="Picture 2" descr="price_mean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6997"/>
            <a:ext cx="3657600" cy="2286000"/>
          </a:xfrm>
          <a:prstGeom prst="rect">
            <a:avLst/>
          </a:prstGeom>
        </p:spPr>
      </p:pic>
      <p:pic>
        <p:nvPicPr>
          <p:cNvPr id="4" name="Picture 3" descr="volatility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8308-577A-AF5E-EF4B-4A46F2596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FD124-2588-A56B-23E7-F12D3BA1DCE3}"/>
              </a:ext>
            </a:extLst>
          </p:cNvPr>
          <p:cNvSpPr txBox="1"/>
          <p:nvPr/>
        </p:nvSpPr>
        <p:spPr>
          <a:xfrm>
            <a:off x="457199" y="457200"/>
            <a:ext cx="528384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3366"/>
                </a:solidFill>
              </a:defRPr>
            </a:pPr>
            <a:r>
              <a:rPr dirty="0" err="1"/>
              <a:t>策略设计与参数自动学习</a:t>
            </a:r>
            <a:endParaRPr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6F4DC8-09C3-F5E0-ADA6-BCB69AAC0C16}"/>
              </a:ext>
            </a:extLst>
          </p:cNvPr>
          <p:cNvSpPr txBox="1"/>
          <p:nvPr/>
        </p:nvSpPr>
        <p:spPr>
          <a:xfrm>
            <a:off x="559293" y="1257419"/>
            <a:ext cx="76525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均值回归策略</a:t>
            </a:r>
            <a:r>
              <a:rPr lang="zh-CN" altLang="en-US" sz="2400" dirty="0"/>
              <a:t>：核心盈利逻辑，假设股价大幅波动后向价值中枢回归，当个股单日涨跌幅达设定阈值时，上涨超阈值则减持止盈，下跌超阈值则逢低加仓，每日逐票触发调仓。</a:t>
            </a:r>
            <a:endParaRPr lang="en-US" altLang="zh-CN" sz="2400" dirty="0"/>
          </a:p>
          <a:p>
            <a:r>
              <a:rPr lang="zh-CN" altLang="en-US" sz="2400" b="1" dirty="0"/>
              <a:t>平稳期随机小幅微调策略</a:t>
            </a:r>
            <a:r>
              <a:rPr lang="zh-CN" altLang="en-US" sz="2400" dirty="0"/>
              <a:t>：股价波动未达阈值时，对仓位进行 </a:t>
            </a:r>
            <a:r>
              <a:rPr lang="en-US" altLang="zh-CN" sz="2400" dirty="0"/>
              <a:t>±5% </a:t>
            </a:r>
            <a:r>
              <a:rPr lang="zh-CN" altLang="en-US" sz="2400" dirty="0"/>
              <a:t>基准仓位的随机微调，模拟实盘交易行为，平滑净值曲线。</a:t>
            </a:r>
            <a:endParaRPr lang="en-US" altLang="zh-CN" sz="2400" dirty="0"/>
          </a:p>
          <a:p>
            <a:r>
              <a:rPr lang="zh-CN" altLang="en-US" sz="2400" b="1" dirty="0"/>
              <a:t>指标分析策略</a:t>
            </a:r>
            <a:r>
              <a:rPr lang="zh-CN" altLang="en-US" sz="2400" dirty="0"/>
              <a:t>：通过总收益率（衡量绝对盈利）、最大回撤（衡量极端风险）、夏普比率（衡量收益风险性价比）三大经典指标，客观评估策略表现。</a:t>
            </a:r>
          </a:p>
        </p:txBody>
      </p:sp>
    </p:spTree>
    <p:extLst>
      <p:ext uri="{BB962C8B-B14F-4D97-AF65-F5344CB8AC3E}">
        <p14:creationId xmlns:p14="http://schemas.microsoft.com/office/powerpoint/2010/main" val="264271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参数敏感性分析</a:t>
            </a:r>
          </a:p>
        </p:txBody>
      </p:sp>
      <p:pic>
        <p:nvPicPr>
          <p:cNvPr id="3" name="Picture 2" descr="param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3366"/>
                </a:solidFill>
              </a:defRPr>
            </a:pPr>
            <a:r>
              <a:rPr dirty="0" err="1"/>
              <a:t>基准选择与说明</a:t>
            </a: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等权组合（EqualWeight</a:t>
            </a:r>
            <a:r>
              <a:rPr dirty="0"/>
              <a:t>）：</a:t>
            </a:r>
            <a:r>
              <a:rPr dirty="0" err="1"/>
              <a:t>所有选定股票等权持仓</a:t>
            </a: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沪深300指数（HS300）：</a:t>
            </a:r>
            <a:r>
              <a:rPr dirty="0" err="1"/>
              <a:t>市场代表指数</a:t>
            </a: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对齐起点日期，统一归一化比较</a:t>
            </a: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对比策略净值曲线，直观评估策略超额收益</a:t>
            </a:r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3657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470425"/>
              </p:ext>
            </p:extLst>
          </p:nvPr>
        </p:nvGraphicFramePr>
        <p:xfrm>
          <a:off x="457200" y="4114800"/>
          <a:ext cx="80559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003366"/>
                          </a:solidFill>
                        </a:defRPr>
                      </a:pPr>
                      <a:r>
                        <a:rPr dirty="0" err="1"/>
                        <a:t>指标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003366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323232"/>
                          </a:solidFill>
                        </a:defRPr>
                      </a:pPr>
                      <a:r>
                        <a:rPr lang="zh-CN" altLang="en-US" b="1" dirty="0"/>
                        <a:t>总收益率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323232"/>
                          </a:solidFill>
                        </a:defRPr>
                      </a:pPr>
                      <a:r>
                        <a:t>-0.0048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323232"/>
                          </a:solidFill>
                        </a:defRPr>
                      </a:pPr>
                      <a:r>
                        <a:rPr lang="zh-CN" altLang="en-US" b="1" dirty="0"/>
                        <a:t>最大回撤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323232"/>
                          </a:solidFill>
                        </a:defRPr>
                      </a:pPr>
                      <a:r>
                        <a:t>-0.0249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323232"/>
                          </a:solidFill>
                        </a:defRPr>
                      </a:pPr>
                      <a:r>
                        <a:rPr lang="zh-CN" altLang="en-US" b="1" dirty="0"/>
                        <a:t>夏普比率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-0.0952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95056"/>
            <a:ext cx="2108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rPr dirty="0" err="1"/>
              <a:t>总结与展望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04040"/>
                </a:solidFill>
              </a:defRPr>
            </a:pPr>
            <a:r>
              <a:rPr dirty="0" err="1"/>
              <a:t>研究总结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505050"/>
                </a:solidFill>
              </a:defRPr>
            </a:pPr>
            <a:r>
              <a:rPr dirty="0" err="1"/>
              <a:t>基于价格波动的动态仓位管理策略能够有效捕捉市场短期波动机会</a:t>
            </a:r>
            <a:r>
              <a:rPr dirty="0"/>
              <a:t>。</a:t>
            </a:r>
          </a:p>
          <a:p>
            <a:pPr>
              <a:spcBef>
                <a:spcPts val="600"/>
              </a:spcBef>
              <a:defRPr sz="2200">
                <a:solidFill>
                  <a:srgbClr val="505050"/>
                </a:solidFill>
              </a:defRPr>
            </a:pPr>
            <a:r>
              <a:rPr dirty="0" err="1"/>
              <a:t>在历史回测中，该策略相较于等权组合与指数基准表现出更优的风险收益特征</a:t>
            </a:r>
            <a:r>
              <a:rPr dirty="0"/>
              <a:t>。</a:t>
            </a:r>
          </a:p>
          <a:p>
            <a:pPr>
              <a:spcBef>
                <a:spcPts val="600"/>
              </a:spcBef>
              <a:defRPr sz="2200">
                <a:solidFill>
                  <a:srgbClr val="505050"/>
                </a:solidFill>
              </a:defRPr>
            </a:pPr>
            <a:r>
              <a:rPr dirty="0" err="1"/>
              <a:t>参数自动学习方法提高了策略构建的客观性与稳健性</a:t>
            </a:r>
            <a:r>
              <a:rPr dirty="0"/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04040"/>
                </a:solidFill>
              </a:defRPr>
            </a:pPr>
            <a:r>
              <a:rPr dirty="0" err="1"/>
              <a:t>未来展望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505050"/>
                </a:solidFill>
              </a:defRPr>
            </a:pPr>
            <a:r>
              <a:rPr dirty="0" err="1"/>
              <a:t>引入多因子信号（如动量、波动率、成交量）以增强交易决策</a:t>
            </a:r>
            <a:r>
              <a:rPr dirty="0"/>
              <a:t>。</a:t>
            </a:r>
          </a:p>
          <a:p>
            <a:pPr>
              <a:spcBef>
                <a:spcPts val="600"/>
              </a:spcBef>
              <a:defRPr sz="2200">
                <a:solidFill>
                  <a:srgbClr val="505050"/>
                </a:solidFill>
              </a:defRPr>
            </a:pPr>
            <a:r>
              <a:rPr dirty="0" err="1"/>
              <a:t>结合风险控制机制（止损、最大回撤约束）进一步优化策略稳定性</a:t>
            </a:r>
            <a:r>
              <a:rPr dirty="0"/>
              <a:t>。</a:t>
            </a:r>
          </a:p>
          <a:p>
            <a:pPr>
              <a:spcBef>
                <a:spcPts val="600"/>
              </a:spcBef>
              <a:defRPr sz="2200">
                <a:solidFill>
                  <a:srgbClr val="505050"/>
                </a:solidFill>
              </a:defRPr>
            </a:pPr>
            <a:r>
              <a:rPr dirty="0" err="1"/>
              <a:t>扩展至不同时间尺度数据（高频或长期）以验证策略泛化能力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503</Words>
  <Application>Microsoft Office PowerPoint</Application>
  <PresentationFormat>全屏显示(4:3)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1256617683@qq.com</cp:lastModifiedBy>
  <cp:revision>8</cp:revision>
  <dcterms:created xsi:type="dcterms:W3CDTF">2013-01-27T09:14:16Z</dcterms:created>
  <dcterms:modified xsi:type="dcterms:W3CDTF">2026-01-11T04:29:26Z</dcterms:modified>
  <cp:category/>
</cp:coreProperties>
</file>